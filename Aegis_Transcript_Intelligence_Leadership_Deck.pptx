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8" r:id="rId7"/>
    <p:sldId id="262" r:id="rId8"/>
    <p:sldId id="260" r:id="rId9"/>
    <p:sldId id="263" r:id="rId10"/>
    <p:sldId id="264" r:id="rId11"/>
    <p:sldId id="265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B2A"/>
            </a:gs>
            <a:gs pos="50000">
              <a:srgbClr val="1B3A5C"/>
            </a:gs>
            <a:gs pos="100000">
              <a:srgbClr val="065A8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024" y="1219201"/>
            <a:ext cx="8266176" cy="2381250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rgbClr val="FFFFFF"/>
                </a:solidFill>
              </a:rPr>
              <a:t>Aegis Transcript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6928" y="3886200"/>
            <a:ext cx="8037576" cy="1188720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Executive Insights for Product &amp; Engineering Leadership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E42695-50C4-F12A-0C28-5C8296546408}"/>
              </a:ext>
            </a:extLst>
          </p:cNvPr>
          <p:cNvSpPr/>
          <p:nvPr/>
        </p:nvSpPr>
        <p:spPr>
          <a:xfrm>
            <a:off x="749808" y="5632704"/>
            <a:ext cx="2596896" cy="694944"/>
          </a:xfrm>
          <a:prstGeom prst="roundRect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32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ORGANIZATIONS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253013-AA9A-FFB1-07E8-578273837114}"/>
              </a:ext>
            </a:extLst>
          </p:cNvPr>
          <p:cNvSpPr/>
          <p:nvPr/>
        </p:nvSpPr>
        <p:spPr>
          <a:xfrm>
            <a:off x="3572256" y="5632704"/>
            <a:ext cx="2596896" cy="694944"/>
          </a:xfrm>
          <a:prstGeom prst="roundRect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3.42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SENTIMENT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465855-6A03-1CEC-B0C1-7F3A1D56E121}"/>
              </a:ext>
            </a:extLst>
          </p:cNvPr>
          <p:cNvSpPr/>
          <p:nvPr/>
        </p:nvSpPr>
        <p:spPr>
          <a:xfrm>
            <a:off x="6358128" y="5632704"/>
            <a:ext cx="2596896" cy="694944"/>
          </a:xfrm>
          <a:prstGeom prst="roundRect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39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ESCALATION CALLS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AFC"/>
            </a:gs>
            <a:gs pos="100000">
              <a:srgbClr val="E8EF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Accent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gradFill>
            <a:gsLst>
              <a:gs pos="0">
                <a:srgbClr val="065A82"/>
              </a:gs>
              <a:gs pos="100000">
                <a:srgbClr val="1C729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Accent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065A8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B2A4A"/>
                </a:solidFill>
              </a:rPr>
              <a:t>Core Platform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Automatically </a:t>
            </a:r>
            <a:r>
              <a:rPr lang="en-US" b="1" dirty="0">
                <a:solidFill>
                  <a:srgbClr val="1B2A4A"/>
                </a:solidFill>
              </a:rPr>
              <a:t>categorize</a:t>
            </a:r>
            <a:r>
              <a:rPr lang="en-US" dirty="0">
                <a:solidFill>
                  <a:srgbClr val="1B2A4A"/>
                </a:solidFill>
              </a:rPr>
              <a:t> meetings using intelligent keyword matching.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Monitor and </a:t>
            </a:r>
            <a:r>
              <a:rPr lang="en-US" b="1" dirty="0">
                <a:solidFill>
                  <a:srgbClr val="1B2A4A"/>
                </a:solidFill>
              </a:rPr>
              <a:t>Analyze</a:t>
            </a:r>
            <a:r>
              <a:rPr lang="en-US" dirty="0">
                <a:solidFill>
                  <a:srgbClr val="1B2A4A"/>
                </a:solidFill>
              </a:rPr>
              <a:t> </a:t>
            </a:r>
            <a:r>
              <a:rPr lang="en-US" b="1" dirty="0">
                <a:solidFill>
                  <a:srgbClr val="1B2A4A"/>
                </a:solidFill>
              </a:rPr>
              <a:t>sentiment trends </a:t>
            </a:r>
            <a:r>
              <a:rPr lang="en-US" dirty="0">
                <a:solidFill>
                  <a:srgbClr val="1B2A4A"/>
                </a:solidFill>
              </a:rPr>
              <a:t>across customers and call types.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Identify </a:t>
            </a:r>
            <a:r>
              <a:rPr lang="en-US" b="1" dirty="0">
                <a:solidFill>
                  <a:srgbClr val="1B2A4A"/>
                </a:solidFill>
              </a:rPr>
              <a:t>churn risks </a:t>
            </a:r>
            <a:r>
              <a:rPr lang="en-US" dirty="0">
                <a:solidFill>
                  <a:srgbClr val="1B2A4A"/>
                </a:solidFill>
              </a:rPr>
              <a:t>and at-risk customer accounts.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Track </a:t>
            </a:r>
            <a:r>
              <a:rPr lang="en-US" b="1" dirty="0">
                <a:solidFill>
                  <a:srgbClr val="1B2A4A"/>
                </a:solidFill>
              </a:rPr>
              <a:t>renewal activity </a:t>
            </a:r>
            <a:r>
              <a:rPr lang="en-US" dirty="0">
                <a:solidFill>
                  <a:srgbClr val="1B2A4A"/>
                </a:solidFill>
              </a:rPr>
              <a:t>and product adoption signals.</a:t>
            </a:r>
          </a:p>
          <a:p>
            <a:pPr>
              <a:defRPr sz="1800"/>
            </a:pPr>
            <a:r>
              <a:rPr lang="en-US" b="1" dirty="0">
                <a:solidFill>
                  <a:srgbClr val="1B2A4A"/>
                </a:solidFill>
              </a:rPr>
              <a:t>Analyze organizational health </a:t>
            </a:r>
            <a:r>
              <a:rPr lang="en-US" dirty="0">
                <a:solidFill>
                  <a:srgbClr val="1B2A4A"/>
                </a:solidFill>
              </a:rPr>
              <a:t>and engagement patterns from internal and external conversations.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AFC"/>
            </a:gs>
            <a:gs pos="100000">
              <a:srgbClr val="E8EF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Accent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gradFill>
            <a:gsLst>
              <a:gs pos="0">
                <a:srgbClr val="065A82"/>
              </a:gs>
              <a:gs pos="100000">
                <a:srgbClr val="1C729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Accent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065A8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B2A4A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Transcript intelligence identified operational risk patterns, customer frustration signals, and adoption opportunities across 32 organizations.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Sentiment averaged 3.42/5.0 across 30.3-minute calls, with clear spikes tied to outages and product releases.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Escalation-related conversations were the dominant category (39 calls), highlighting reactive operational workload.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Support and external customer conversations exposed gaps in outage communication, redundancy planning and missing configurations.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Positive sentiment increased significantly after April feature/performance releases, validating roadmap prioritization.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AFC"/>
            </a:gs>
            <a:gs pos="100000">
              <a:srgbClr val="E8EF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Accent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gradFill>
            <a:gsLst>
              <a:gs pos="0">
                <a:srgbClr val="065A82"/>
              </a:gs>
              <a:gs pos="100000">
                <a:srgbClr val="1C729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Accent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065A8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B2A4A"/>
                </a:solidFill>
              </a:rPr>
              <a:t>Meeting Category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Escalation calls: 39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Internal Planning: 15 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Customer Support: 11 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Compliance/Audit: 10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Product Implementation: 10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External Renewals: 7 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External Feedback/Reviews: 7</a:t>
            </a:r>
          </a:p>
          <a:p>
            <a:pPr marL="0" indent="0">
              <a:buNone/>
              <a:defRPr sz="1800"/>
            </a:pPr>
            <a:br>
              <a:rPr lang="en-US" dirty="0">
                <a:solidFill>
                  <a:srgbClr val="1B2A4A"/>
                </a:solidFill>
              </a:rPr>
            </a:br>
            <a:r>
              <a:rPr lang="en-US" dirty="0">
                <a:solidFill>
                  <a:srgbClr val="1B2A4A"/>
                </a:solidFill>
              </a:rPr>
              <a:t>Key Insight: Intelligent categorization enables the right operational team to quickly act on relevant conversations.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AFC"/>
            </a:gs>
            <a:gs pos="100000">
              <a:srgbClr val="E8EF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Accent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gradFill>
            <a:gsLst>
              <a:gs pos="0">
                <a:srgbClr val="065A82"/>
              </a:gs>
              <a:gs pos="100000">
                <a:srgbClr val="1C729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Accent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065A8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182880"/>
            <a:ext cx="7315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rPr lang="en-US" dirty="0">
                <a:solidFill>
                  <a:srgbClr val="1B2A4A"/>
                </a:solidFill>
              </a:rPr>
              <a:t>Organization-Level Health Dashboard</a:t>
            </a:r>
          </a:p>
        </p:txBody>
      </p:sp>
      <p:pic>
        <p:nvPicPr>
          <p:cNvPr id="3" name="Picture 2" descr="5cae659a-c3f9-4e59-8895-deab18b68f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046720" cy="4710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1648" y="5497809"/>
            <a:ext cx="84978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dirty="0">
                <a:solidFill>
                  <a:srgbClr val="1B2A4A"/>
                </a:solidFill>
              </a:rPr>
              <a:t>Dashboard highlights account-level health and engagement.</a:t>
            </a:r>
          </a:p>
          <a:p>
            <a:pPr>
              <a:defRPr sz="1600"/>
            </a:pPr>
            <a:r>
              <a:rPr lang="en-US" dirty="0">
                <a:solidFill>
                  <a:srgbClr val="1B2A4A"/>
                </a:solidFill>
              </a:rPr>
              <a:t>Tracks sentiment trends, churn risk, and renewal activity.</a:t>
            </a:r>
          </a:p>
          <a:p>
            <a:pPr>
              <a:defRPr sz="1600"/>
            </a:pPr>
            <a:r>
              <a:rPr lang="en-US" dirty="0">
                <a:solidFill>
                  <a:srgbClr val="1B2A4A"/>
                </a:solidFill>
              </a:rPr>
              <a:t>Example organization shows stable sentiment (4.0/5.0) and active renewal discussions.</a:t>
            </a:r>
          </a:p>
          <a:p>
            <a:pPr>
              <a:defRPr sz="1600"/>
            </a:pPr>
            <a:r>
              <a:rPr lang="en-US" dirty="0">
                <a:solidFill>
                  <a:srgbClr val="1B2A4A"/>
                </a:solidFill>
              </a:rPr>
              <a:t>Leadership teams can prioritize intervention before customer dissatisfaction escalates.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AFC"/>
            </a:gs>
            <a:gs pos="100000">
              <a:srgbClr val="E8EFF5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0B176-DDAE-4C02-807F-7C4ED2E19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Accent">
            <a:extLst>
              <a:ext uri="{FF2B5EF4-FFF2-40B4-BE49-F238E27FC236}">
                <a16:creationId xmlns:a16="http://schemas.microsoft.com/office/drawing/2014/main" id="{D6B4ED68-1773-0FD1-732F-2A450DDE71DE}"/>
              </a:ext>
            </a:extLst>
          </p:cNvPr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gradFill>
            <a:gsLst>
              <a:gs pos="0">
                <a:srgbClr val="065A82"/>
              </a:gs>
              <a:gs pos="100000">
                <a:srgbClr val="1C729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Accent">
            <a:extLst>
              <a:ext uri="{FF2B5EF4-FFF2-40B4-BE49-F238E27FC236}">
                <a16:creationId xmlns:a16="http://schemas.microsoft.com/office/drawing/2014/main" id="{C4B71DA9-36E6-8D95-A01F-668CC05BB113}"/>
              </a:ext>
            </a:extLst>
          </p:cNvPr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065A8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AE3291-4A2E-1D75-C9E5-B8A836CE2396}"/>
              </a:ext>
            </a:extLst>
          </p:cNvPr>
          <p:cNvSpPr txBox="1"/>
          <p:nvPr/>
        </p:nvSpPr>
        <p:spPr>
          <a:xfrm>
            <a:off x="457200" y="182880"/>
            <a:ext cx="7315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rPr lang="en-US" dirty="0">
                <a:solidFill>
                  <a:srgbClr val="1B2A4A"/>
                </a:solidFill>
              </a:rPr>
              <a:t>Organization-Level Health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699573-5623-833D-F55F-93DC7DB21EF5}"/>
              </a:ext>
            </a:extLst>
          </p:cNvPr>
          <p:cNvSpPr txBox="1"/>
          <p:nvPr/>
        </p:nvSpPr>
        <p:spPr>
          <a:xfrm>
            <a:off x="231648" y="6025896"/>
            <a:ext cx="8497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dirty="0">
                <a:solidFill>
                  <a:srgbClr val="1B2A4A"/>
                </a:solidFill>
              </a:rPr>
              <a:t>Dashboard highlights high churn risk assessment.</a:t>
            </a:r>
          </a:p>
          <a:p>
            <a:pPr>
              <a:defRPr sz="1600"/>
            </a:pPr>
            <a:r>
              <a:rPr lang="en-US" dirty="0">
                <a:solidFill>
                  <a:srgbClr val="1B2A4A"/>
                </a:solidFill>
              </a:rPr>
              <a:t>Leadership teams can prioritize intervention before customer dissatisfaction escalates.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4C4F1B-2C47-B2D7-71F1-E6C2684E7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832104"/>
            <a:ext cx="6638105" cy="31272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8E354D-99BF-FFFC-3988-8B3310726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3" y="3524508"/>
            <a:ext cx="3986243" cy="244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5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AFC"/>
            </a:gs>
            <a:gs pos="100000">
              <a:srgbClr val="E8EF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Accent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gradFill>
            <a:gsLst>
              <a:gs pos="0">
                <a:srgbClr val="065A82"/>
              </a:gs>
              <a:gs pos="100000">
                <a:srgbClr val="1C729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Accent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065A8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182880"/>
            <a:ext cx="7315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rPr lang="en-US" dirty="0">
                <a:solidFill>
                  <a:srgbClr val="1B2A4A"/>
                </a:solidFill>
              </a:rPr>
              <a:t>Sentiment Trends Across Call Types</a:t>
            </a:r>
          </a:p>
        </p:txBody>
      </p:sp>
      <p:pic>
        <p:nvPicPr>
          <p:cNvPr id="3" name="Picture 2" descr="newplo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046720" cy="28373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9936" y="4988054"/>
            <a:ext cx="86441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lang="en-US" dirty="0">
                <a:solidFill>
                  <a:srgbClr val="1B2A4A"/>
                </a:solidFill>
              </a:rPr>
              <a:t>External calls generally maintained the strongest sentiment trend.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lang="en-US" dirty="0">
                <a:solidFill>
                  <a:srgbClr val="1B2A4A"/>
                </a:solidFill>
              </a:rPr>
              <a:t>Customer support sentiment showed the highest volatility during operational incidents.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lang="en-US" dirty="0">
                <a:solidFill>
                  <a:srgbClr val="1B2A4A"/>
                </a:solidFill>
              </a:rPr>
              <a:t>Internal discussions reflected operational strain during outage periods.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lang="en-US" dirty="0">
                <a:solidFill>
                  <a:srgbClr val="1B2A4A"/>
                </a:solidFill>
              </a:rPr>
              <a:t>Shared sentiment drops across all three call types indicate systemic platform issues rather than isolated incidents.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AFC"/>
            </a:gs>
            <a:gs pos="100000">
              <a:srgbClr val="E8EF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Accent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gradFill>
            <a:gsLst>
              <a:gs pos="0">
                <a:srgbClr val="065A82"/>
              </a:gs>
              <a:gs pos="100000">
                <a:srgbClr val="1C729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Accent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065A8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B2A4A"/>
                </a:solidFill>
              </a:rPr>
              <a:t>Sentiment Distribution &amp; Organizational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Mixed-positive and mixed-negative conversations each accounted for 33 calls, indicating customers are engaged but still facing friction.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Very-positive conversations (21) significantly outnumbered strongly negative interactions (6 combined negative/very-negative).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Overall sentiment score: 3.42/5.0 across all transcript sources.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The distribution suggests the customer base is generally stable, but operational execution issues materially influence perception.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Internal and external call sentiment trends can serve as an early-warning system for churn and escalation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AFC"/>
            </a:gs>
            <a:gs pos="100000">
              <a:srgbClr val="E8EF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Accent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gradFill>
            <a:gsLst>
              <a:gs pos="0">
                <a:srgbClr val="065A82"/>
              </a:gs>
              <a:gs pos="100000">
                <a:srgbClr val="1C729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Accent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065A8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B2A4A"/>
                </a:solidFill>
              </a:rPr>
              <a:t>Key Incident Findings &amp; Leadership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lang="en-US" dirty="0">
                <a:solidFill>
                  <a:srgbClr val="1B2A4A"/>
                </a:solidFill>
              </a:rPr>
              <a:t>March 10 – March 14 low sentiment due to outage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3/10: Cobalt Software outage caused a major sentiment decline across all call types.</a:t>
            </a:r>
          </a:p>
          <a:p>
            <a:pPr>
              <a:defRPr sz="1800"/>
            </a:pPr>
            <a:r>
              <a:rPr lang="en-US" b="1" dirty="0">
                <a:solidFill>
                  <a:srgbClr val="1B2A4A"/>
                </a:solidFill>
              </a:rPr>
              <a:t>Root cause</a:t>
            </a:r>
            <a:r>
              <a:rPr lang="en-US" dirty="0">
                <a:solidFill>
                  <a:srgbClr val="1B2A4A"/>
                </a:solidFill>
              </a:rPr>
              <a:t>: ingestion pipeline primary node hit memory ceiling and crashed due to lack of redundancy.</a:t>
            </a:r>
          </a:p>
          <a:p>
            <a:pPr>
              <a:defRPr sz="1800"/>
            </a:pPr>
            <a:r>
              <a:rPr lang="en-US" b="1" dirty="0">
                <a:solidFill>
                  <a:srgbClr val="1B2A4A"/>
                </a:solidFill>
              </a:rPr>
              <a:t>Recommendation</a:t>
            </a:r>
            <a:r>
              <a:rPr lang="en-US" dirty="0">
                <a:solidFill>
                  <a:srgbClr val="1B2A4A"/>
                </a:solidFill>
              </a:rPr>
              <a:t>: Engineering should add redundancy validation to architecture approval checklists.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3/11: Trailhead Marketplace escalated concerns after threat-detection pipeline outage left retail systems blind to threats.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Customer frustration was amplified by lack of </a:t>
            </a:r>
            <a:r>
              <a:rPr lang="en-US" b="1" dirty="0">
                <a:solidFill>
                  <a:srgbClr val="1B2A4A"/>
                </a:solidFill>
              </a:rPr>
              <a:t>proactive communication </a:t>
            </a:r>
            <a:r>
              <a:rPr lang="en-US" dirty="0">
                <a:solidFill>
                  <a:srgbClr val="1B2A4A"/>
                </a:solidFill>
              </a:rPr>
              <a:t>during the incident.</a:t>
            </a:r>
          </a:p>
          <a:p>
            <a:pPr>
              <a:defRPr sz="1800"/>
            </a:pPr>
            <a:r>
              <a:rPr lang="en-US" b="1" dirty="0">
                <a:solidFill>
                  <a:srgbClr val="1B2A4A"/>
                </a:solidFill>
              </a:rPr>
              <a:t>Recommendation</a:t>
            </a:r>
            <a:r>
              <a:rPr lang="en-US" dirty="0">
                <a:solidFill>
                  <a:srgbClr val="1B2A4A"/>
                </a:solidFill>
              </a:rPr>
              <a:t>: Product and Customer Success teams should implement proactive outage communications with continuous status updates.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AFC"/>
            </a:gs>
            <a:gs pos="100000">
              <a:srgbClr val="E8EF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Accent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gradFill>
            <a:gsLst>
              <a:gs pos="0">
                <a:srgbClr val="065A82"/>
              </a:gs>
              <a:gs pos="100000">
                <a:srgbClr val="1C729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Accent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065A8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B2A4A"/>
                </a:solidFill>
              </a:rPr>
              <a:t>Product Release &amp; Quality Engineering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lang="en-US" b="1" dirty="0">
                <a:solidFill>
                  <a:srgbClr val="1B2A4A"/>
                </a:solidFill>
              </a:rPr>
              <a:t>April 3 - Positive sentiment due to upcoming upgrades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4/03 sentiment surged to 4.8 after Forge Industries and Silverline Brands validated upcoming April 7 feature/performance releases.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This demonstrates strong correlation between roadmap delivery and customer confidence.</a:t>
            </a:r>
          </a:p>
          <a:p>
            <a:pPr>
              <a:defRPr sz="1800"/>
            </a:pPr>
            <a:endParaRPr lang="en-US" dirty="0">
              <a:solidFill>
                <a:srgbClr val="1B2A4A"/>
              </a:solidFill>
            </a:endParaRPr>
          </a:p>
          <a:p>
            <a:pPr marL="0" indent="0">
              <a:buNone/>
              <a:defRPr sz="1800"/>
            </a:pPr>
            <a:r>
              <a:rPr lang="en-US" b="1" dirty="0">
                <a:solidFill>
                  <a:srgbClr val="1B2A4A"/>
                </a:solidFill>
              </a:rPr>
              <a:t>April 10 – April 12 – Negative sentiment due new feature bugs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4/10–4/12: Support sentiment dropped due to pricing-alert misconfiguration.</a:t>
            </a:r>
          </a:p>
          <a:p>
            <a:pPr>
              <a:defRPr sz="1800"/>
            </a:pPr>
            <a:r>
              <a:rPr lang="en-US" b="1" dirty="0">
                <a:solidFill>
                  <a:srgbClr val="1B2A4A"/>
                </a:solidFill>
              </a:rPr>
              <a:t>Recommendation</a:t>
            </a:r>
            <a:r>
              <a:rPr lang="en-US" dirty="0">
                <a:solidFill>
                  <a:srgbClr val="1B2A4A"/>
                </a:solidFill>
              </a:rPr>
              <a:t>: Add alert configuration validation into regression testcases.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Silverline Brands also reported backup windows extending from 1 AM–5 AM to 8–9 hours, impacting production performance.</a:t>
            </a:r>
          </a:p>
          <a:p>
            <a:pPr>
              <a:defRPr sz="1800"/>
            </a:pPr>
            <a:r>
              <a:rPr lang="en-US" b="1" dirty="0">
                <a:solidFill>
                  <a:srgbClr val="1B2A4A"/>
                </a:solidFill>
              </a:rPr>
              <a:t>Recommendation</a:t>
            </a:r>
            <a:r>
              <a:rPr lang="en-US" dirty="0">
                <a:solidFill>
                  <a:srgbClr val="1B2A4A"/>
                </a:solidFill>
              </a:rPr>
              <a:t>: Engineering should optimize SQL backup workflows and improve operational monitoring for long-running jobs and should add these to regression scenarios.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AFC"/>
            </a:gs>
            <a:gs pos="100000">
              <a:srgbClr val="E8EF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Accent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gradFill>
            <a:gsLst>
              <a:gs pos="0">
                <a:srgbClr val="065A82"/>
              </a:gs>
              <a:gs pos="100000">
                <a:srgbClr val="1C729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Accent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065A8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B2A4A"/>
                </a:solidFill>
              </a:rPr>
              <a:t>Additional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lang="en-US" sz="2000" b="1" dirty="0">
                <a:solidFill>
                  <a:srgbClr val="065A82"/>
                </a:solidFill>
              </a:rPr>
              <a:t>Recurring Blocker Detection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The same problem surfaces in different meetings with different customers, but no single person sees the full pattern across all conversations.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This insight stitches signals together, surfaces organization-wide blockers early, and identifies which accounts to reach out to before they escalate.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These are the highest-leverage fixes — one resolved blocker can close a support ticket, save a deal, and win a competitive bake-off simultaneously.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Enables account teams to act proactively before the customer has to chase them, improving trust and retention.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AFC"/>
            </a:gs>
            <a:gs pos="100000">
              <a:srgbClr val="E8EFF5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A55850-149E-DE26-1162-F3C884158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Accent">
            <a:extLst>
              <a:ext uri="{FF2B5EF4-FFF2-40B4-BE49-F238E27FC236}">
                <a16:creationId xmlns:a16="http://schemas.microsoft.com/office/drawing/2014/main" id="{CC34158E-DD33-2AF6-D99D-D9C6C0F942CC}"/>
              </a:ext>
            </a:extLst>
          </p:cNvPr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gradFill>
            <a:gsLst>
              <a:gs pos="0">
                <a:srgbClr val="065A82"/>
              </a:gs>
              <a:gs pos="100000">
                <a:srgbClr val="1C729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Accent">
            <a:extLst>
              <a:ext uri="{FF2B5EF4-FFF2-40B4-BE49-F238E27FC236}">
                <a16:creationId xmlns:a16="http://schemas.microsoft.com/office/drawing/2014/main" id="{CE10030D-92AA-F695-B3AE-5098912C39BF}"/>
              </a:ext>
            </a:extLst>
          </p:cNvPr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065A8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F91A4-B703-DD16-2FAC-62AC8176D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B2A4A"/>
                </a:solidFill>
              </a:rPr>
              <a:t>Additional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944D9-B7E9-E548-B56A-F39DEEFDB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lang="en-US" sz="2000" b="1">
                <a:solidFill>
                  <a:srgbClr val="065A82"/>
                </a:solidFill>
              </a:rPr>
              <a:t>Speaker-Sentiment Gap Detection</a:t>
            </a:r>
          </a:p>
          <a:p>
            <a:pPr>
              <a:defRPr sz="1800"/>
            </a:pPr>
            <a:r>
              <a:rPr lang="en-US">
                <a:solidFill>
                  <a:srgbClr val="1B2A4A"/>
                </a:solidFill>
              </a:rPr>
              <a:t>Inside any customer-facing call, the tool measures each side’s average sentiment separately — the Aegis speaker (AM, support, CSM) and the customer.</a:t>
            </a:r>
          </a:p>
          <a:p>
            <a:pPr>
              <a:defRPr sz="1800"/>
            </a:pPr>
            <a:r>
              <a:rPr lang="en-US">
                <a:solidFill>
                  <a:srgbClr val="1B2A4A"/>
                </a:solidFill>
              </a:rPr>
              <a:t>When the gap is large — typically Aegis-side reading upbeat while the customer stays neutral or negative — the call is flagged as “talking past each other.”</a:t>
            </a:r>
          </a:p>
          <a:p>
            <a:pPr>
              <a:defRPr sz="1800"/>
            </a:pPr>
            <a:r>
              <a:rPr lang="en-US">
                <a:solidFill>
                  <a:srgbClr val="1B2A4A"/>
                </a:solidFill>
              </a:rPr>
              <a:t>The Aegis-side sentiment is what gets reported upstream as “the call went well” — but if the customer’s actual sentiment was lower, leadership is making decisions on a falsely positive read.</a:t>
            </a:r>
          </a:p>
          <a:p>
            <a:pPr>
              <a:defRPr sz="1800"/>
            </a:pPr>
            <a:r>
              <a:rPr lang="en-US">
                <a:solidFill>
                  <a:srgbClr val="1B2A4A"/>
                </a:solidFill>
              </a:rPr>
              <a:t>Catching the gap early reveals quiet disengagement before it surfaces as a renewal surprise — a signal that’s invisible from any single-number sentiment score.</a:t>
            </a:r>
          </a:p>
        </p:txBody>
      </p:sp>
    </p:spTree>
    <p:extLst>
      <p:ext uri="{BB962C8B-B14F-4D97-AF65-F5344CB8AC3E}">
        <p14:creationId xmlns:p14="http://schemas.microsoft.com/office/powerpoint/2010/main" val="3825958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AFC"/>
            </a:gs>
            <a:gs pos="100000">
              <a:srgbClr val="E8EFF5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4031D-CC76-9515-5731-F9CC749C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Accent">
            <a:extLst>
              <a:ext uri="{FF2B5EF4-FFF2-40B4-BE49-F238E27FC236}">
                <a16:creationId xmlns:a16="http://schemas.microsoft.com/office/drawing/2014/main" id="{BB850662-23B7-4F6B-FE5A-2B75AD0EBA98}"/>
              </a:ext>
            </a:extLst>
          </p:cNvPr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gradFill>
            <a:gsLst>
              <a:gs pos="0">
                <a:srgbClr val="065A82"/>
              </a:gs>
              <a:gs pos="100000">
                <a:srgbClr val="1C729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Accent">
            <a:extLst>
              <a:ext uri="{FF2B5EF4-FFF2-40B4-BE49-F238E27FC236}">
                <a16:creationId xmlns:a16="http://schemas.microsoft.com/office/drawing/2014/main" id="{5D254E24-326F-80A0-0AC9-7D032A8F1B35}"/>
              </a:ext>
            </a:extLst>
          </p:cNvPr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065A8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C80B3-F987-EB06-C628-218A675D2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B2A4A"/>
                </a:solidFill>
              </a:rPr>
              <a:t>Additional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613E2-D9D1-186D-9D9D-131A162E2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lang="en-US" sz="2000" b="1" dirty="0">
                <a:solidFill>
                  <a:srgbClr val="065A82"/>
                </a:solidFill>
              </a:rPr>
              <a:t>Conversation Thread Detection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Customers raise issues across multiple meetings until something changes — by linking topics across all calls for a given customer, the tool identifies unresolved threads spanning weeks or months without action items closing.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Active threads are distinguished from one-off mentions, and stalled threads from progressing ones.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Separates concerns with momentum from those that have gone quiet but aren’t resolved — the quiet threads are the ones that resurface in renewal calls as deal-breakers.</a:t>
            </a:r>
          </a:p>
          <a:p>
            <a:pPr>
              <a:defRPr sz="1800"/>
            </a:pPr>
            <a:r>
              <a:rPr lang="en-US" dirty="0">
                <a:solidFill>
                  <a:srgbClr val="1B2A4A"/>
                </a:solidFill>
              </a:rPr>
              <a:t>Gives leadership a one-glance answer to “what’s still outstanding for this customer?” — without pulling individual call notes from across the corpus.</a:t>
            </a:r>
          </a:p>
        </p:txBody>
      </p:sp>
    </p:spTree>
    <p:extLst>
      <p:ext uri="{BB962C8B-B14F-4D97-AF65-F5344CB8AC3E}">
        <p14:creationId xmlns:p14="http://schemas.microsoft.com/office/powerpoint/2010/main" val="2187682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B2A"/>
            </a:gs>
            <a:gs pos="50000">
              <a:srgbClr val="1B3A5C"/>
            </a:gs>
            <a:gs pos="100000">
              <a:srgbClr val="065A82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6FD4B-6ED0-D769-8DD6-79E4D6FB3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SideGlow"/>
          <p:cNvSpPr/>
          <p:nvPr/>
        </p:nvSpPr>
        <p:spPr>
          <a:xfrm>
            <a:off x="5452000" y="0"/>
            <a:ext cx="3692000" cy="6858000"/>
          </a:xfrm>
          <a:prstGeom prst="rect">
            <a:avLst/>
          </a:prstGeom>
          <a:gradFill>
            <a:gsLst>
              <a:gs pos="0">
                <a:srgbClr val="065A82">
                  <a:alpha val="0"/>
                </a:srgbClr>
              </a:gs>
              <a:gs pos="100000">
                <a:srgbClr val="1C7293">
                  <a:alpha val="2000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 txBox="1"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</p:spPr>
        <p:txBody>
          <a:bodyPr anchor="ctr" anchorCtr="0"/>
          <a:lstStyle/>
          <a:p>
            <a:pPr algn="ctr"/>
            <a:r>
              <a:rPr lang="en-US" sz="4800" b="0" dirty="0">
                <a:solidFill>
                  <a:srgbClr val="FFFFFF"/>
                </a:solidFill>
                <a:latin typeface="Calibri"/>
              </a:rPr>
              <a:t>Any Questions?</a:t>
            </a:r>
          </a:p>
        </p:txBody>
      </p:sp>
      <p:sp>
        <p:nvSpPr>
          <p:cNvPr id="3" name="Subtitle 2"/>
          <p:cNvSpPr txBox="1"/>
          <p:nvPr/>
        </p:nvSpPr>
        <p:spPr>
          <a:xfrm>
            <a:off x="0" y="3429000"/>
            <a:ext cx="9144000" cy="914400"/>
          </a:xfrm>
          <a:prstGeom prst="rect">
            <a:avLst/>
          </a:prstGeom>
          <a:noFill/>
        </p:spPr>
        <p:txBody>
          <a:bodyPr anchor="t" anchorCtr="0"/>
          <a:lstStyle/>
          <a:p>
            <a:pPr algn="ctr"/>
            <a:r>
              <a:rPr lang="en-US" sz="2000" dirty="0">
                <a:solidFill>
                  <a:srgbClr val="CADCFC"/>
                </a:solidFill>
                <a:latin typeface="Calibri"/>
              </a:rPr>
              <a:t>Thank you for your time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0" y="5486400"/>
            <a:ext cx="9144000" cy="457200"/>
          </a:xfrm>
          <a:prstGeom prst="rect">
            <a:avLst/>
          </a:prstGeom>
          <a:noFill/>
        </p:spPr>
        <p:txBody>
          <a:bodyPr anchor="b" anchorCtr="0"/>
          <a:lstStyle/>
          <a:p>
            <a:pPr algn="ctr"/>
            <a:r>
              <a:rPr lang="en-US" sz="1400" dirty="0">
                <a:solidFill>
                  <a:srgbClr val="8BA7C8"/>
                </a:solidFill>
                <a:latin typeface="Calibri"/>
              </a:rPr>
              <a:t>Aegis Transcript Intelligence  |  Executive Insights  |  May 2026</a:t>
            </a:r>
          </a:p>
        </p:txBody>
      </p:sp>
    </p:spTree>
    <p:extLst>
      <p:ext uri="{BB962C8B-B14F-4D97-AF65-F5344CB8AC3E}">
        <p14:creationId xmlns:p14="http://schemas.microsoft.com/office/powerpoint/2010/main" val="3335779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981</Words>
  <Application>Microsoft Office PowerPoint</Application>
  <PresentationFormat>On-screen Show (4:3)</PresentationFormat>
  <Paragraphs>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Aegis Transcript Intelligence</vt:lpstr>
      <vt:lpstr>Core Platform Capabilities</vt:lpstr>
      <vt:lpstr>Executive Summary</vt:lpstr>
      <vt:lpstr>Meeting Category Insights</vt:lpstr>
      <vt:lpstr>PowerPoint Presentation</vt:lpstr>
      <vt:lpstr>PowerPoint Presentation</vt:lpstr>
      <vt:lpstr>PowerPoint Presentation</vt:lpstr>
      <vt:lpstr>Sentiment Distribution &amp; Organizational Health</vt:lpstr>
      <vt:lpstr>Key Incident Findings &amp; Leadership Insights</vt:lpstr>
      <vt:lpstr>Product Release &amp; Quality Engineering Insights</vt:lpstr>
      <vt:lpstr>Additional Insights</vt:lpstr>
      <vt:lpstr>Additional Insights</vt:lpstr>
      <vt:lpstr>Additional Insights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shanthi veerasenan</dc:creator>
  <cp:keywords/>
  <dc:description>generated using python-pptx</dc:description>
  <cp:lastModifiedBy>shanthi veerasenan</cp:lastModifiedBy>
  <cp:revision>3</cp:revision>
  <dcterms:created xsi:type="dcterms:W3CDTF">2013-01-27T09:14:16Z</dcterms:created>
  <dcterms:modified xsi:type="dcterms:W3CDTF">2026-05-08T03:40:00Z</dcterms:modified>
  <cp:category/>
</cp:coreProperties>
</file>